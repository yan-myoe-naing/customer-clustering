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Telegraf Bold" charset="1" panose="00000800000000000000"/>
      <p:regular r:id="rId11"/>
    </p:embeddedFont>
    <p:embeddedFont>
      <p:font typeface="Cheddar" charset="1" panose="00000000000000000000"/>
      <p:regular r:id="rId12"/>
    </p:embeddedFont>
    <p:embeddedFont>
      <p:font typeface="Telegraf" charset="1" panose="000005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1.jpeg" Type="http://schemas.openxmlformats.org/officeDocument/2006/relationships/image"/><Relationship Id="rId5" Target="../media/image9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0285" y="5471903"/>
            <a:ext cx="4550950" cy="904999"/>
            <a:chOff x="0" y="0"/>
            <a:chExt cx="6067933" cy="12066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67933" cy="1206627"/>
            </a:xfrm>
            <a:custGeom>
              <a:avLst/>
              <a:gdLst/>
              <a:ahLst/>
              <a:cxnLst/>
              <a:rect r="r" b="b" t="t" l="l"/>
              <a:pathLst>
                <a:path h="1206627" w="6067933">
                  <a:moveTo>
                    <a:pt x="459232" y="0"/>
                  </a:moveTo>
                  <a:lnTo>
                    <a:pt x="5608701" y="0"/>
                  </a:lnTo>
                  <a:cubicBezTo>
                    <a:pt x="5862320" y="0"/>
                    <a:pt x="6067933" y="205613"/>
                    <a:pt x="6067933" y="459232"/>
                  </a:cubicBezTo>
                  <a:lnTo>
                    <a:pt x="6067933" y="747395"/>
                  </a:lnTo>
                  <a:cubicBezTo>
                    <a:pt x="6067933" y="869188"/>
                    <a:pt x="6019546" y="986028"/>
                    <a:pt x="5933440" y="1072134"/>
                  </a:cubicBezTo>
                  <a:cubicBezTo>
                    <a:pt x="5847334" y="1158240"/>
                    <a:pt x="5730494" y="1206627"/>
                    <a:pt x="5608701" y="1206627"/>
                  </a:cubicBezTo>
                  <a:lnTo>
                    <a:pt x="459232" y="1206627"/>
                  </a:lnTo>
                  <a:cubicBezTo>
                    <a:pt x="205613" y="1206627"/>
                    <a:pt x="0" y="1001014"/>
                    <a:pt x="0" y="747395"/>
                  </a:cubicBezTo>
                  <a:lnTo>
                    <a:pt x="0" y="459232"/>
                  </a:lnTo>
                  <a:cubicBezTo>
                    <a:pt x="0" y="205613"/>
                    <a:pt x="205613" y="0"/>
                    <a:pt x="459232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0285" y="5093770"/>
            <a:ext cx="4550950" cy="1283132"/>
            <a:chOff x="0" y="0"/>
            <a:chExt cx="6067933" cy="17108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67928" cy="1710847"/>
            </a:xfrm>
            <a:custGeom>
              <a:avLst/>
              <a:gdLst/>
              <a:ahLst/>
              <a:cxnLst/>
              <a:rect r="r" b="b" t="t" l="l"/>
              <a:pathLst>
                <a:path h="1710847" w="6067928">
                  <a:moveTo>
                    <a:pt x="0" y="0"/>
                  </a:moveTo>
                  <a:lnTo>
                    <a:pt x="6067928" y="0"/>
                  </a:lnTo>
                  <a:lnTo>
                    <a:pt x="6067928" y="1710847"/>
                  </a:lnTo>
                  <a:lnTo>
                    <a:pt x="0" y="171084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108" r="0" b="-1910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0"/>
              <a:ext cx="6067933" cy="1806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98"/>
                </a:lnSpc>
              </a:pPr>
              <a:r>
                <a:rPr lang="en-US" sz="2999" b="tru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PRESENTED BY: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0285" y="6525844"/>
            <a:ext cx="4550950" cy="904999"/>
            <a:chOff x="0" y="0"/>
            <a:chExt cx="6067933" cy="12066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67933" cy="1206627"/>
            </a:xfrm>
            <a:custGeom>
              <a:avLst/>
              <a:gdLst/>
              <a:ahLst/>
              <a:cxnLst/>
              <a:rect r="r" b="b" t="t" l="l"/>
              <a:pathLst>
                <a:path h="1206627" w="6067933">
                  <a:moveTo>
                    <a:pt x="459232" y="0"/>
                  </a:moveTo>
                  <a:lnTo>
                    <a:pt x="5608701" y="0"/>
                  </a:lnTo>
                  <a:cubicBezTo>
                    <a:pt x="5862320" y="0"/>
                    <a:pt x="6067933" y="205613"/>
                    <a:pt x="6067933" y="459232"/>
                  </a:cubicBezTo>
                  <a:lnTo>
                    <a:pt x="6067933" y="747395"/>
                  </a:lnTo>
                  <a:cubicBezTo>
                    <a:pt x="6067933" y="869188"/>
                    <a:pt x="6019546" y="986028"/>
                    <a:pt x="5933440" y="1072134"/>
                  </a:cubicBezTo>
                  <a:cubicBezTo>
                    <a:pt x="5847334" y="1158240"/>
                    <a:pt x="5730494" y="1206627"/>
                    <a:pt x="5608701" y="1206627"/>
                  </a:cubicBezTo>
                  <a:lnTo>
                    <a:pt x="459232" y="1206627"/>
                  </a:lnTo>
                  <a:cubicBezTo>
                    <a:pt x="205613" y="1206627"/>
                    <a:pt x="0" y="1001014"/>
                    <a:pt x="0" y="747395"/>
                  </a:cubicBezTo>
                  <a:lnTo>
                    <a:pt x="0" y="459232"/>
                  </a:lnTo>
                  <a:cubicBezTo>
                    <a:pt x="0" y="205613"/>
                    <a:pt x="205613" y="0"/>
                    <a:pt x="459232" y="0"/>
                  </a:cubicBezTo>
                  <a:close/>
                </a:path>
              </a:pathLst>
            </a:custGeom>
            <a:solidFill>
              <a:srgbClr val="F7562B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80285" y="6147711"/>
            <a:ext cx="4550950" cy="1283132"/>
            <a:chOff x="0" y="0"/>
            <a:chExt cx="6067933" cy="17108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67928" cy="1710847"/>
            </a:xfrm>
            <a:custGeom>
              <a:avLst/>
              <a:gdLst/>
              <a:ahLst/>
              <a:cxnLst/>
              <a:rect r="r" b="b" t="t" l="l"/>
              <a:pathLst>
                <a:path h="1710847" w="6067928">
                  <a:moveTo>
                    <a:pt x="0" y="0"/>
                  </a:moveTo>
                  <a:lnTo>
                    <a:pt x="6067928" y="0"/>
                  </a:lnTo>
                  <a:lnTo>
                    <a:pt x="6067928" y="1710847"/>
                  </a:lnTo>
                  <a:lnTo>
                    <a:pt x="0" y="171084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108" r="0" b="-1910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6067933" cy="1806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98"/>
                </a:lnSpc>
              </a:pPr>
              <a:r>
                <a:rPr lang="en-US" sz="2999" b="tru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YAN MYOE NAING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80285" y="2504151"/>
            <a:ext cx="8694296" cy="24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sz="9999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AIML</a:t>
            </a:r>
          </a:p>
          <a:p>
            <a:pPr algn="l">
              <a:lnSpc>
                <a:spcPts val="8999"/>
              </a:lnSpc>
            </a:pPr>
            <a:r>
              <a:rPr lang="en-US" sz="9999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CA2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30227" y="641166"/>
            <a:ext cx="8304324" cy="1082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998"/>
              </a:lnSpc>
            </a:pPr>
            <a:r>
              <a:rPr lang="en-US" sz="6998" spc="341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PART A: CLUSTERING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86490" y="1775955"/>
            <a:ext cx="7948070" cy="8011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8"/>
              </a:lnSpc>
            </a:pPr>
            <a:r>
              <a:rPr lang="en-US" sz="2799" b="true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Customer segmentation</a:t>
            </a:r>
          </a:p>
          <a:p>
            <a:pPr algn="l">
              <a:lnSpc>
                <a:spcPts val="4478"/>
              </a:lnSpc>
            </a:pPr>
          </a:p>
          <a:p>
            <a:pPr algn="l">
              <a:lnSpc>
                <a:spcPts val="4478"/>
              </a:lnSpc>
            </a:pPr>
            <a:r>
              <a:rPr lang="en-US" sz="2799" b="true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EDA and data preprocessing</a:t>
            </a:r>
          </a:p>
          <a:p>
            <a:pPr algn="l">
              <a:lnSpc>
                <a:spcPts val="4478"/>
              </a:lnSpc>
            </a:pPr>
            <a:r>
              <a:rPr lang="en-US" sz="2799" b="true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PCA and model comparison</a:t>
            </a:r>
          </a:p>
          <a:p>
            <a:pPr algn="l">
              <a:lnSpc>
                <a:spcPts val="4478"/>
              </a:lnSpc>
            </a:pPr>
            <a:r>
              <a:rPr lang="en-US" sz="2799" b="true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Choosing the number of clusters</a:t>
            </a:r>
          </a:p>
          <a:p>
            <a:pPr algn="l">
              <a:lnSpc>
                <a:spcPts val="4478"/>
              </a:lnSpc>
            </a:pPr>
            <a:r>
              <a:rPr lang="en-US" sz="2799" b="true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Segment profiles and insights</a:t>
            </a:r>
          </a:p>
          <a:p>
            <a:pPr algn="l">
              <a:lnSpc>
                <a:spcPts val="4478"/>
              </a:lnSpc>
            </a:pPr>
          </a:p>
          <a:p>
            <a:pPr algn="l">
              <a:lnSpc>
                <a:spcPts val="4478"/>
              </a:lnSpc>
            </a:pPr>
            <a:r>
              <a:rPr lang="en-US" sz="2799" b="true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200 customers before cleaning</a:t>
            </a:r>
          </a:p>
          <a:p>
            <a:pPr algn="l">
              <a:lnSpc>
                <a:spcPts val="4478"/>
              </a:lnSpc>
            </a:pPr>
            <a:r>
              <a:rPr lang="en-US" sz="2799" b="true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198 customers after cleaning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95411" y="2224754"/>
            <a:ext cx="9636814" cy="803786"/>
            <a:chOff x="0" y="0"/>
            <a:chExt cx="12849085" cy="1071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49098" cy="1071626"/>
            </a:xfrm>
            <a:custGeom>
              <a:avLst/>
              <a:gdLst/>
              <a:ahLst/>
              <a:cxnLst/>
              <a:rect r="r" b="b" t="t" l="l"/>
              <a:pathLst>
                <a:path h="1071626" w="12849098">
                  <a:moveTo>
                    <a:pt x="207391" y="0"/>
                  </a:moveTo>
                  <a:lnTo>
                    <a:pt x="12641707" y="0"/>
                  </a:lnTo>
                  <a:cubicBezTo>
                    <a:pt x="12696698" y="0"/>
                    <a:pt x="12749530" y="21844"/>
                    <a:pt x="12788392" y="60706"/>
                  </a:cubicBezTo>
                  <a:cubicBezTo>
                    <a:pt x="12827253" y="99568"/>
                    <a:pt x="12849098" y="152400"/>
                    <a:pt x="12849098" y="207391"/>
                  </a:cubicBezTo>
                  <a:lnTo>
                    <a:pt x="12849098" y="864235"/>
                  </a:lnTo>
                  <a:cubicBezTo>
                    <a:pt x="12849098" y="978789"/>
                    <a:pt x="12756261" y="1071626"/>
                    <a:pt x="12641707" y="1071626"/>
                  </a:cubicBezTo>
                  <a:lnTo>
                    <a:pt x="207391" y="1071626"/>
                  </a:lnTo>
                  <a:cubicBezTo>
                    <a:pt x="92837" y="1071753"/>
                    <a:pt x="0" y="978789"/>
                    <a:pt x="0" y="864235"/>
                  </a:cubicBezTo>
                  <a:lnTo>
                    <a:pt x="0" y="207391"/>
                  </a:lnTo>
                  <a:cubicBezTo>
                    <a:pt x="0" y="92837"/>
                    <a:pt x="92837" y="0"/>
                    <a:pt x="207391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395411" y="1971599"/>
            <a:ext cx="9636814" cy="1056942"/>
            <a:chOff x="0" y="0"/>
            <a:chExt cx="12849085" cy="14092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49088" cy="1409253"/>
            </a:xfrm>
            <a:custGeom>
              <a:avLst/>
              <a:gdLst/>
              <a:ahLst/>
              <a:cxnLst/>
              <a:rect r="r" b="b" t="t" l="l"/>
              <a:pathLst>
                <a:path h="1409253" w="12849088">
                  <a:moveTo>
                    <a:pt x="0" y="0"/>
                  </a:moveTo>
                  <a:lnTo>
                    <a:pt x="12849088" y="0"/>
                  </a:lnTo>
                  <a:lnTo>
                    <a:pt x="12849088" y="1409253"/>
                  </a:lnTo>
                  <a:lnTo>
                    <a:pt x="0" y="140925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657" r="0" b="-12765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2849085" cy="1475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sz="2199" b="tru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Checked 200 records. No missing values.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395411" y="3306899"/>
            <a:ext cx="9636814" cy="803786"/>
            <a:chOff x="0" y="0"/>
            <a:chExt cx="12849085" cy="10717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49098" cy="1071626"/>
            </a:xfrm>
            <a:custGeom>
              <a:avLst/>
              <a:gdLst/>
              <a:ahLst/>
              <a:cxnLst/>
              <a:rect r="r" b="b" t="t" l="l"/>
              <a:pathLst>
                <a:path h="1071626" w="12849098">
                  <a:moveTo>
                    <a:pt x="207391" y="0"/>
                  </a:moveTo>
                  <a:lnTo>
                    <a:pt x="12641707" y="0"/>
                  </a:lnTo>
                  <a:cubicBezTo>
                    <a:pt x="12696698" y="0"/>
                    <a:pt x="12749530" y="21844"/>
                    <a:pt x="12788392" y="60706"/>
                  </a:cubicBezTo>
                  <a:cubicBezTo>
                    <a:pt x="12827253" y="99568"/>
                    <a:pt x="12849098" y="152400"/>
                    <a:pt x="12849098" y="207391"/>
                  </a:cubicBezTo>
                  <a:lnTo>
                    <a:pt x="12849098" y="864235"/>
                  </a:lnTo>
                  <a:cubicBezTo>
                    <a:pt x="12849098" y="978789"/>
                    <a:pt x="12756261" y="1071626"/>
                    <a:pt x="12641707" y="1071626"/>
                  </a:cubicBezTo>
                  <a:lnTo>
                    <a:pt x="207391" y="1071626"/>
                  </a:lnTo>
                  <a:cubicBezTo>
                    <a:pt x="92837" y="1071753"/>
                    <a:pt x="0" y="978789"/>
                    <a:pt x="0" y="864235"/>
                  </a:cubicBezTo>
                  <a:lnTo>
                    <a:pt x="0" y="207391"/>
                  </a:lnTo>
                  <a:cubicBezTo>
                    <a:pt x="0" y="92837"/>
                    <a:pt x="92837" y="0"/>
                    <a:pt x="207391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395411" y="3053744"/>
            <a:ext cx="9636814" cy="1056942"/>
            <a:chOff x="0" y="0"/>
            <a:chExt cx="12849085" cy="14092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49088" cy="1409253"/>
            </a:xfrm>
            <a:custGeom>
              <a:avLst/>
              <a:gdLst/>
              <a:ahLst/>
              <a:cxnLst/>
              <a:rect r="r" b="b" t="t" l="l"/>
              <a:pathLst>
                <a:path h="1409253" w="12849088">
                  <a:moveTo>
                    <a:pt x="0" y="0"/>
                  </a:moveTo>
                  <a:lnTo>
                    <a:pt x="12849088" y="0"/>
                  </a:lnTo>
                  <a:lnTo>
                    <a:pt x="12849088" y="1409253"/>
                  </a:lnTo>
                  <a:lnTo>
                    <a:pt x="0" y="140925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657" r="0" b="-12765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2849085" cy="1475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sz="2199" b="tru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Reviewed Age, Income, Spending and Gender.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395411" y="4386910"/>
            <a:ext cx="9636814" cy="803786"/>
            <a:chOff x="0" y="0"/>
            <a:chExt cx="12849085" cy="1071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49098" cy="1071626"/>
            </a:xfrm>
            <a:custGeom>
              <a:avLst/>
              <a:gdLst/>
              <a:ahLst/>
              <a:cxnLst/>
              <a:rect r="r" b="b" t="t" l="l"/>
              <a:pathLst>
                <a:path h="1071626" w="12849098">
                  <a:moveTo>
                    <a:pt x="207391" y="0"/>
                  </a:moveTo>
                  <a:lnTo>
                    <a:pt x="12641707" y="0"/>
                  </a:lnTo>
                  <a:cubicBezTo>
                    <a:pt x="12696698" y="0"/>
                    <a:pt x="12749530" y="21844"/>
                    <a:pt x="12788392" y="60706"/>
                  </a:cubicBezTo>
                  <a:cubicBezTo>
                    <a:pt x="12827253" y="99568"/>
                    <a:pt x="12849098" y="152400"/>
                    <a:pt x="12849098" y="207391"/>
                  </a:cubicBezTo>
                  <a:lnTo>
                    <a:pt x="12849098" y="864235"/>
                  </a:lnTo>
                  <a:cubicBezTo>
                    <a:pt x="12849098" y="978789"/>
                    <a:pt x="12756261" y="1071626"/>
                    <a:pt x="12641707" y="1071626"/>
                  </a:cubicBezTo>
                  <a:lnTo>
                    <a:pt x="207391" y="1071626"/>
                  </a:lnTo>
                  <a:cubicBezTo>
                    <a:pt x="92837" y="1071753"/>
                    <a:pt x="0" y="978789"/>
                    <a:pt x="0" y="864235"/>
                  </a:cubicBezTo>
                  <a:lnTo>
                    <a:pt x="0" y="207391"/>
                  </a:lnTo>
                  <a:cubicBezTo>
                    <a:pt x="0" y="92837"/>
                    <a:pt x="92837" y="0"/>
                    <a:pt x="207391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395411" y="4133755"/>
            <a:ext cx="9636814" cy="1056942"/>
            <a:chOff x="0" y="0"/>
            <a:chExt cx="12849085" cy="14092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49088" cy="1409253"/>
            </a:xfrm>
            <a:custGeom>
              <a:avLst/>
              <a:gdLst/>
              <a:ahLst/>
              <a:cxnLst/>
              <a:rect r="r" b="b" t="t" l="l"/>
              <a:pathLst>
                <a:path h="1409253" w="12849088">
                  <a:moveTo>
                    <a:pt x="0" y="0"/>
                  </a:moveTo>
                  <a:lnTo>
                    <a:pt x="12849088" y="0"/>
                  </a:lnTo>
                  <a:lnTo>
                    <a:pt x="12849088" y="1409253"/>
                  </a:lnTo>
                  <a:lnTo>
                    <a:pt x="0" y="140925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657" r="0" b="-12765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2849085" cy="1475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sz="2199" b="tru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Removed 2 customers with income of $137k.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395411" y="5466921"/>
            <a:ext cx="9636814" cy="803786"/>
            <a:chOff x="0" y="0"/>
            <a:chExt cx="12849085" cy="1071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849098" cy="1071626"/>
            </a:xfrm>
            <a:custGeom>
              <a:avLst/>
              <a:gdLst/>
              <a:ahLst/>
              <a:cxnLst/>
              <a:rect r="r" b="b" t="t" l="l"/>
              <a:pathLst>
                <a:path h="1071626" w="12849098">
                  <a:moveTo>
                    <a:pt x="207391" y="0"/>
                  </a:moveTo>
                  <a:lnTo>
                    <a:pt x="12641707" y="0"/>
                  </a:lnTo>
                  <a:cubicBezTo>
                    <a:pt x="12696698" y="0"/>
                    <a:pt x="12749530" y="21844"/>
                    <a:pt x="12788392" y="60706"/>
                  </a:cubicBezTo>
                  <a:cubicBezTo>
                    <a:pt x="12827253" y="99568"/>
                    <a:pt x="12849098" y="152400"/>
                    <a:pt x="12849098" y="207391"/>
                  </a:cubicBezTo>
                  <a:lnTo>
                    <a:pt x="12849098" y="864235"/>
                  </a:lnTo>
                  <a:cubicBezTo>
                    <a:pt x="12849098" y="978789"/>
                    <a:pt x="12756261" y="1071626"/>
                    <a:pt x="12641707" y="1071626"/>
                  </a:cubicBezTo>
                  <a:lnTo>
                    <a:pt x="207391" y="1071626"/>
                  </a:lnTo>
                  <a:cubicBezTo>
                    <a:pt x="92837" y="1071753"/>
                    <a:pt x="0" y="978789"/>
                    <a:pt x="0" y="864235"/>
                  </a:cubicBezTo>
                  <a:lnTo>
                    <a:pt x="0" y="207391"/>
                  </a:lnTo>
                  <a:cubicBezTo>
                    <a:pt x="0" y="92837"/>
                    <a:pt x="92837" y="0"/>
                    <a:pt x="207391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395411" y="5213756"/>
            <a:ext cx="9636814" cy="1056942"/>
            <a:chOff x="0" y="0"/>
            <a:chExt cx="12849085" cy="14092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849088" cy="1409253"/>
            </a:xfrm>
            <a:custGeom>
              <a:avLst/>
              <a:gdLst/>
              <a:ahLst/>
              <a:cxnLst/>
              <a:rect r="r" b="b" t="t" l="l"/>
              <a:pathLst>
                <a:path h="1409253" w="12849088">
                  <a:moveTo>
                    <a:pt x="0" y="0"/>
                  </a:moveTo>
                  <a:lnTo>
                    <a:pt x="12849088" y="0"/>
                  </a:lnTo>
                  <a:lnTo>
                    <a:pt x="12849088" y="1409253"/>
                  </a:lnTo>
                  <a:lnTo>
                    <a:pt x="0" y="140925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657" r="0" b="-12765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2849085" cy="1475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sz="2199" b="tru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Dropped ID, encoded Gender, scaled numeric features.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09577" y="1348711"/>
            <a:ext cx="7021182" cy="5311950"/>
            <a:chOff x="0" y="0"/>
            <a:chExt cx="9361576" cy="708259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361551" cy="7082536"/>
            </a:xfrm>
            <a:custGeom>
              <a:avLst/>
              <a:gdLst/>
              <a:ahLst/>
              <a:cxnLst/>
              <a:rect r="r" b="b" t="t" l="l"/>
              <a:pathLst>
                <a:path h="7082536" w="9361551">
                  <a:moveTo>
                    <a:pt x="0" y="0"/>
                  </a:moveTo>
                  <a:lnTo>
                    <a:pt x="9361551" y="0"/>
                  </a:lnTo>
                  <a:lnTo>
                    <a:pt x="9361551" y="7082536"/>
                  </a:lnTo>
                  <a:lnTo>
                    <a:pt x="0" y="708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0" y="6626581"/>
            <a:ext cx="11057458" cy="3650990"/>
          </a:xfrm>
          <a:custGeom>
            <a:avLst/>
            <a:gdLst/>
            <a:ahLst/>
            <a:cxnLst/>
            <a:rect r="r" b="b" t="t" l="l"/>
            <a:pathLst>
              <a:path h="3650990" w="11057458">
                <a:moveTo>
                  <a:pt x="0" y="0"/>
                </a:moveTo>
                <a:lnTo>
                  <a:pt x="11057458" y="0"/>
                </a:lnTo>
                <a:lnTo>
                  <a:pt x="11057458" y="3650989"/>
                </a:lnTo>
                <a:lnTo>
                  <a:pt x="0" y="36509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932888" y="6901463"/>
            <a:ext cx="9638938" cy="3354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b="true" sz="2417" spc="118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EDA Key Findings</a:t>
            </a:r>
          </a:p>
          <a:p>
            <a:pPr algn="l">
              <a:lnSpc>
                <a:spcPts val="2899"/>
              </a:lnSpc>
            </a:pPr>
          </a:p>
          <a:p>
            <a:pPr algn="l">
              <a:lnSpc>
                <a:spcPts val="2899"/>
              </a:lnSpc>
            </a:pPr>
            <a:r>
              <a:rPr lang="en-US" b="true" sz="2417" spc="118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Age: 18–70 years</a:t>
            </a:r>
          </a:p>
          <a:p>
            <a:pPr algn="l">
              <a:lnSpc>
                <a:spcPts val="2899"/>
              </a:lnSpc>
            </a:pPr>
            <a:r>
              <a:rPr lang="en-US" b="true" sz="2417" spc="118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Income: $15k–$137k</a:t>
            </a:r>
          </a:p>
          <a:p>
            <a:pPr algn="l">
              <a:lnSpc>
                <a:spcPts val="2899"/>
              </a:lnSpc>
            </a:pPr>
            <a:r>
              <a:rPr lang="en-US" b="true" sz="2417" spc="118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Spending score: 1–99</a:t>
            </a:r>
          </a:p>
          <a:p>
            <a:pPr algn="l">
              <a:lnSpc>
                <a:spcPts val="2899"/>
              </a:lnSpc>
            </a:pPr>
            <a:r>
              <a:rPr lang="en-US" b="true" sz="2417" spc="118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Age and Spending show a negative trend</a:t>
            </a:r>
          </a:p>
          <a:p>
            <a:pPr algn="l">
              <a:lnSpc>
                <a:spcPts val="2899"/>
              </a:lnSpc>
            </a:pPr>
            <a:r>
              <a:rPr lang="en-US" b="true" sz="2417" spc="118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Income and Spending show a weak linear relationship</a:t>
            </a:r>
          </a:p>
          <a:p>
            <a:pPr algn="l">
              <a:lnSpc>
                <a:spcPts val="2899"/>
              </a:lnSpc>
            </a:pPr>
            <a:r>
              <a:rPr lang="en-US" b="true" sz="2417" spc="118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Gender shows no clear separation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64693" y="34928"/>
            <a:ext cx="10916488" cy="1968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8"/>
              </a:lnSpc>
            </a:pPr>
            <a:r>
              <a:rPr lang="en-US" sz="6998" spc="341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EDA AND DATA PREPROCESSING</a:t>
            </a:r>
          </a:p>
          <a:p>
            <a:pPr algn="l">
              <a:lnSpc>
                <a:spcPts val="6998"/>
              </a:lnSpc>
            </a:pP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5935877" y="0"/>
            <a:ext cx="2352123" cy="1977019"/>
          </a:xfrm>
          <a:custGeom>
            <a:avLst/>
            <a:gdLst/>
            <a:ahLst/>
            <a:cxnLst/>
            <a:rect r="r" b="b" t="t" l="l"/>
            <a:pathLst>
              <a:path h="1977019" w="2352123">
                <a:moveTo>
                  <a:pt x="0" y="0"/>
                </a:moveTo>
                <a:lnTo>
                  <a:pt x="2352123" y="0"/>
                </a:lnTo>
                <a:lnTo>
                  <a:pt x="2352123" y="1977019"/>
                </a:lnTo>
                <a:lnTo>
                  <a:pt x="0" y="19770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08" t="0" r="-108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5680093" y="350339"/>
            <a:ext cx="2352123" cy="998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Part</a:t>
            </a:r>
          </a:p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204811" cy="10287000"/>
            <a:chOff x="0" y="0"/>
            <a:chExt cx="5606415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0641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606415">
                  <a:moveTo>
                    <a:pt x="0" y="0"/>
                  </a:moveTo>
                  <a:lnTo>
                    <a:pt x="5606415" y="0"/>
                  </a:lnTo>
                  <a:lnTo>
                    <a:pt x="5606415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5" t="0" r="-3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3923967" cy="2582551"/>
            <a:chOff x="0" y="0"/>
            <a:chExt cx="5231956" cy="34434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32019" cy="3443351"/>
            </a:xfrm>
            <a:custGeom>
              <a:avLst/>
              <a:gdLst/>
              <a:ahLst/>
              <a:cxnLst/>
              <a:rect r="r" b="b" t="t" l="l"/>
              <a:pathLst>
                <a:path h="3443351" w="5232019">
                  <a:moveTo>
                    <a:pt x="0" y="0"/>
                  </a:moveTo>
                  <a:lnTo>
                    <a:pt x="5232019" y="0"/>
                  </a:lnTo>
                  <a:lnTo>
                    <a:pt x="5232019" y="3443351"/>
                  </a:lnTo>
                  <a:lnTo>
                    <a:pt x="0" y="34433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0" r="1" b="-4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5460273" y="1196026"/>
            <a:ext cx="11799027" cy="7477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0828" indent="-263609" lvl="2">
              <a:lnSpc>
                <a:spcPts val="4151"/>
              </a:lnSpc>
              <a:buFont typeface="Arial"/>
              <a:buChar char="⚬"/>
            </a:pPr>
            <a:r>
              <a:rPr lang="en-US" sz="3458" spc="16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Reduced 4 inputs to 2 PCA components.</a:t>
            </a:r>
          </a:p>
          <a:p>
            <a:pPr algn="l" marL="790828" indent="-263609" lvl="2">
              <a:lnSpc>
                <a:spcPts val="4151"/>
              </a:lnSpc>
              <a:buFont typeface="Arial"/>
              <a:buChar char="⚬"/>
            </a:pPr>
          </a:p>
          <a:p>
            <a:pPr algn="l" marL="790828" indent="-263609" lvl="2">
              <a:lnSpc>
                <a:spcPts val="4151"/>
              </a:lnSpc>
              <a:buFont typeface="Arial"/>
              <a:buChar char="⚬"/>
            </a:pPr>
            <a:r>
              <a:rPr lang="en-US" sz="3458" spc="16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PC1: Age (+0.706) and Spending (−0.706).</a:t>
            </a:r>
          </a:p>
          <a:p>
            <a:pPr algn="l" marL="790828" indent="-263609" lvl="2">
              <a:lnSpc>
                <a:spcPts val="4151"/>
              </a:lnSpc>
              <a:buFont typeface="Arial"/>
              <a:buChar char="⚬"/>
            </a:pPr>
            <a:r>
              <a:rPr lang="en-US" sz="3458" spc="16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PC2: Income (+0.999). Gender contributes little.</a:t>
            </a:r>
          </a:p>
          <a:p>
            <a:pPr algn="l" marL="790828" indent="-263609" lvl="2">
              <a:lnSpc>
                <a:spcPts val="4151"/>
              </a:lnSpc>
              <a:buFont typeface="Arial"/>
              <a:buChar char="⚬"/>
            </a:pPr>
          </a:p>
          <a:p>
            <a:pPr algn="l" marL="790828" indent="-263609" lvl="2">
              <a:lnSpc>
                <a:spcPts val="4151"/>
              </a:lnSpc>
              <a:buFont typeface="Arial"/>
              <a:buChar char="⚬"/>
            </a:pPr>
            <a:r>
              <a:rPr lang="en-US" sz="3458" spc="16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The first 2 PCs retain 71.84% of variance.</a:t>
            </a:r>
          </a:p>
          <a:p>
            <a:pPr algn="l" marL="790828" indent="-263609" lvl="2">
              <a:lnSpc>
                <a:spcPts val="4151"/>
              </a:lnSpc>
              <a:buFont typeface="Arial"/>
              <a:buChar char="⚬"/>
            </a:pPr>
          </a:p>
          <a:p>
            <a:pPr algn="l" marL="790828" indent="-263609" lvl="2">
              <a:lnSpc>
                <a:spcPts val="4151"/>
              </a:lnSpc>
              <a:buFont typeface="Arial"/>
              <a:buChar char="⚬"/>
            </a:pPr>
            <a:r>
              <a:rPr lang="en-US" sz="3458" spc="16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Compared KMeans, Agglomerative, DBSCAN and GMM. Also examined a Ward dendrogram.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204811" y="7045719"/>
            <a:ext cx="5537949" cy="3968515"/>
            <a:chOff x="0" y="0"/>
            <a:chExt cx="7383932" cy="52913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83907" cy="5291328"/>
            </a:xfrm>
            <a:custGeom>
              <a:avLst/>
              <a:gdLst/>
              <a:ahLst/>
              <a:cxnLst/>
              <a:rect r="r" b="b" t="t" l="l"/>
              <a:pathLst>
                <a:path h="5291328" w="7383907">
                  <a:moveTo>
                    <a:pt x="7383907" y="2645664"/>
                  </a:moveTo>
                  <a:lnTo>
                    <a:pt x="5844667" y="5291328"/>
                  </a:lnTo>
                  <a:lnTo>
                    <a:pt x="1539367" y="5291328"/>
                  </a:lnTo>
                  <a:lnTo>
                    <a:pt x="0" y="2645664"/>
                  </a:lnTo>
                  <a:lnTo>
                    <a:pt x="1539240" y="0"/>
                  </a:lnTo>
                  <a:lnTo>
                    <a:pt x="5844540" y="0"/>
                  </a:lnTo>
                  <a:lnTo>
                    <a:pt x="7383780" y="2645664"/>
                  </a:lnTo>
                  <a:close/>
                </a:path>
              </a:pathLst>
            </a:custGeom>
            <a:solidFill>
              <a:srgbClr val="02B676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4854207" y="7099840"/>
            <a:ext cx="4239158" cy="3914394"/>
            <a:chOff x="0" y="0"/>
            <a:chExt cx="5652211" cy="52191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52212" cy="5219197"/>
            </a:xfrm>
            <a:custGeom>
              <a:avLst/>
              <a:gdLst/>
              <a:ahLst/>
              <a:cxnLst/>
              <a:rect r="r" b="b" t="t" l="l"/>
              <a:pathLst>
                <a:path h="5219197" w="5652212">
                  <a:moveTo>
                    <a:pt x="0" y="0"/>
                  </a:moveTo>
                  <a:lnTo>
                    <a:pt x="5652212" y="0"/>
                  </a:lnTo>
                  <a:lnTo>
                    <a:pt x="5652212" y="5219197"/>
                  </a:lnTo>
                  <a:lnTo>
                    <a:pt x="0" y="521919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8474" t="0" r="-68474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5652211" cy="5209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99"/>
                </a:lnSpc>
              </a:pPr>
              <a:r>
                <a:rPr lang="en-US" b="true" sz="2499" spc="12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Initial comparison at k = 3</a:t>
              </a:r>
            </a:p>
            <a:p>
              <a:pPr algn="ctr">
                <a:lnSpc>
                  <a:spcPts val="2499"/>
                </a:lnSpc>
              </a:pPr>
              <a:r>
                <a:rPr lang="en-US" b="true" sz="2499" spc="12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KMeans: 0.419</a:t>
              </a:r>
            </a:p>
            <a:p>
              <a:pPr algn="ctr">
                <a:lnSpc>
                  <a:spcPts val="2499"/>
                </a:lnSpc>
              </a:pPr>
              <a:r>
                <a:rPr lang="en-US" b="true" sz="2499" spc="12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Agglomerative: 0.367</a:t>
              </a:r>
            </a:p>
            <a:p>
              <a:pPr algn="ctr">
                <a:lnSpc>
                  <a:spcPts val="2499"/>
                </a:lnSpc>
              </a:pPr>
              <a:r>
                <a:rPr lang="en-US" b="true" sz="2499" spc="12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GMM: 0.392</a:t>
              </a:r>
            </a:p>
            <a:p>
              <a:pPr algn="ctr">
                <a:lnSpc>
                  <a:spcPts val="2499"/>
                </a:lnSpc>
              </a:pPr>
              <a:r>
                <a:rPr lang="en-US" b="true" sz="2499" spc="12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DBSCAN: 0.184 (includes noise)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173405" y="7587053"/>
            <a:ext cx="7085895" cy="2172605"/>
            <a:chOff x="0" y="0"/>
            <a:chExt cx="9447860" cy="28968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47911" cy="2896870"/>
            </a:xfrm>
            <a:custGeom>
              <a:avLst/>
              <a:gdLst/>
              <a:ahLst/>
              <a:cxnLst/>
              <a:rect r="r" b="b" t="t" l="l"/>
              <a:pathLst>
                <a:path h="2896870" w="9447911">
                  <a:moveTo>
                    <a:pt x="0" y="0"/>
                  </a:moveTo>
                  <a:lnTo>
                    <a:pt x="9447911" y="0"/>
                  </a:lnTo>
                  <a:lnTo>
                    <a:pt x="9447911" y="2896870"/>
                  </a:lnTo>
                  <a:lnTo>
                    <a:pt x="0" y="28968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2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637668" y="208597"/>
            <a:ext cx="9444247" cy="1082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8"/>
              </a:lnSpc>
            </a:pPr>
            <a:r>
              <a:rPr lang="en-US" sz="6998" spc="341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PCA AND MODEL TESTING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935877" y="0"/>
            <a:ext cx="2352123" cy="1977019"/>
          </a:xfrm>
          <a:custGeom>
            <a:avLst/>
            <a:gdLst/>
            <a:ahLst/>
            <a:cxnLst/>
            <a:rect r="r" b="b" t="t" l="l"/>
            <a:pathLst>
              <a:path h="1977019" w="2352123">
                <a:moveTo>
                  <a:pt x="0" y="0"/>
                </a:moveTo>
                <a:lnTo>
                  <a:pt x="2352123" y="0"/>
                </a:lnTo>
                <a:lnTo>
                  <a:pt x="2352123" y="1977019"/>
                </a:lnTo>
                <a:lnTo>
                  <a:pt x="0" y="19770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08" t="0" r="-108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680093" y="350339"/>
            <a:ext cx="2352123" cy="998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Part</a:t>
            </a:r>
          </a:p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570758"/>
            <a:ext cx="7294445" cy="803786"/>
            <a:chOff x="0" y="0"/>
            <a:chExt cx="9725927" cy="1071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25914" cy="1071753"/>
            </a:xfrm>
            <a:custGeom>
              <a:avLst/>
              <a:gdLst/>
              <a:ahLst/>
              <a:cxnLst/>
              <a:rect r="r" b="b" t="t" l="l"/>
              <a:pathLst>
                <a:path h="1071753" w="9725914">
                  <a:moveTo>
                    <a:pt x="274066" y="0"/>
                  </a:moveTo>
                  <a:lnTo>
                    <a:pt x="9451848" y="0"/>
                  </a:lnTo>
                  <a:cubicBezTo>
                    <a:pt x="9603232" y="0"/>
                    <a:pt x="9725914" y="122682"/>
                    <a:pt x="9725914" y="274066"/>
                  </a:cubicBezTo>
                  <a:lnTo>
                    <a:pt x="9725914" y="797687"/>
                  </a:lnTo>
                  <a:cubicBezTo>
                    <a:pt x="9725914" y="870331"/>
                    <a:pt x="9697085" y="940054"/>
                    <a:pt x="9645650" y="991489"/>
                  </a:cubicBezTo>
                  <a:cubicBezTo>
                    <a:pt x="9594215" y="1042924"/>
                    <a:pt x="9524619" y="1071753"/>
                    <a:pt x="9451848" y="1071753"/>
                  </a:cubicBezTo>
                  <a:lnTo>
                    <a:pt x="274066" y="1071753"/>
                  </a:lnTo>
                  <a:cubicBezTo>
                    <a:pt x="122682" y="1071753"/>
                    <a:pt x="0" y="949071"/>
                    <a:pt x="0" y="797687"/>
                  </a:cubicBezTo>
                  <a:lnTo>
                    <a:pt x="0" y="274066"/>
                  </a:lnTo>
                  <a:cubicBezTo>
                    <a:pt x="0" y="122682"/>
                    <a:pt x="122682" y="0"/>
                    <a:pt x="274066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317603"/>
            <a:ext cx="7294445" cy="1056942"/>
            <a:chOff x="0" y="0"/>
            <a:chExt cx="9725927" cy="14092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25926" cy="1409253"/>
            </a:xfrm>
            <a:custGeom>
              <a:avLst/>
              <a:gdLst/>
              <a:ahLst/>
              <a:cxnLst/>
              <a:rect r="r" b="b" t="t" l="l"/>
              <a:pathLst>
                <a:path h="1409253" w="9725926">
                  <a:moveTo>
                    <a:pt x="0" y="0"/>
                  </a:moveTo>
                  <a:lnTo>
                    <a:pt x="9725926" y="0"/>
                  </a:lnTo>
                  <a:lnTo>
                    <a:pt x="9725926" y="1409253"/>
                  </a:lnTo>
                  <a:lnTo>
                    <a:pt x="0" y="140925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475" r="0" b="-844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9725927" cy="1475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sz="2199" b="tru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Tested k = 1–10 using Elbow Method (inertia curve).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2584094"/>
            <a:ext cx="7294445" cy="803786"/>
            <a:chOff x="0" y="0"/>
            <a:chExt cx="9725927" cy="10717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25914" cy="1071753"/>
            </a:xfrm>
            <a:custGeom>
              <a:avLst/>
              <a:gdLst/>
              <a:ahLst/>
              <a:cxnLst/>
              <a:rect r="r" b="b" t="t" l="l"/>
              <a:pathLst>
                <a:path h="1071753" w="9725914">
                  <a:moveTo>
                    <a:pt x="274066" y="0"/>
                  </a:moveTo>
                  <a:lnTo>
                    <a:pt x="9451848" y="0"/>
                  </a:lnTo>
                  <a:cubicBezTo>
                    <a:pt x="9603232" y="0"/>
                    <a:pt x="9725914" y="122682"/>
                    <a:pt x="9725914" y="274066"/>
                  </a:cubicBezTo>
                  <a:lnTo>
                    <a:pt x="9725914" y="797687"/>
                  </a:lnTo>
                  <a:cubicBezTo>
                    <a:pt x="9725914" y="870331"/>
                    <a:pt x="9697085" y="940054"/>
                    <a:pt x="9645650" y="991489"/>
                  </a:cubicBezTo>
                  <a:cubicBezTo>
                    <a:pt x="9594215" y="1042924"/>
                    <a:pt x="9524619" y="1071753"/>
                    <a:pt x="9451848" y="1071753"/>
                  </a:cubicBezTo>
                  <a:lnTo>
                    <a:pt x="274066" y="1071753"/>
                  </a:lnTo>
                  <a:cubicBezTo>
                    <a:pt x="122682" y="1071753"/>
                    <a:pt x="0" y="949071"/>
                    <a:pt x="0" y="797687"/>
                  </a:cubicBezTo>
                  <a:lnTo>
                    <a:pt x="0" y="274066"/>
                  </a:lnTo>
                  <a:cubicBezTo>
                    <a:pt x="0" y="122682"/>
                    <a:pt x="122682" y="0"/>
                    <a:pt x="274066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28700" y="2330929"/>
            <a:ext cx="7294445" cy="1056942"/>
            <a:chOff x="0" y="0"/>
            <a:chExt cx="9725927" cy="14092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25926" cy="1409253"/>
            </a:xfrm>
            <a:custGeom>
              <a:avLst/>
              <a:gdLst/>
              <a:ahLst/>
              <a:cxnLst/>
              <a:rect r="r" b="b" t="t" l="l"/>
              <a:pathLst>
                <a:path h="1409253" w="9725926">
                  <a:moveTo>
                    <a:pt x="0" y="0"/>
                  </a:moveTo>
                  <a:lnTo>
                    <a:pt x="9725926" y="0"/>
                  </a:lnTo>
                  <a:lnTo>
                    <a:pt x="9725926" y="1409253"/>
                  </a:lnTo>
                  <a:lnTo>
                    <a:pt x="0" y="140925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475" r="0" b="-844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9725927" cy="1475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b="true" sz="2199" spc="-2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Tested k = 2–6 using Silhouette Score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3597421"/>
            <a:ext cx="7294445" cy="925420"/>
            <a:chOff x="0" y="0"/>
            <a:chExt cx="9725927" cy="12338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725914" cy="1233932"/>
            </a:xfrm>
            <a:custGeom>
              <a:avLst/>
              <a:gdLst/>
              <a:ahLst/>
              <a:cxnLst/>
              <a:rect r="r" b="b" t="t" l="l"/>
              <a:pathLst>
                <a:path h="1233932" w="9725914">
                  <a:moveTo>
                    <a:pt x="274066" y="0"/>
                  </a:moveTo>
                  <a:lnTo>
                    <a:pt x="9451848" y="0"/>
                  </a:lnTo>
                  <a:cubicBezTo>
                    <a:pt x="9603232" y="0"/>
                    <a:pt x="9725914" y="122682"/>
                    <a:pt x="9725914" y="274066"/>
                  </a:cubicBezTo>
                  <a:lnTo>
                    <a:pt x="9725914" y="959866"/>
                  </a:lnTo>
                  <a:cubicBezTo>
                    <a:pt x="9725914" y="1032510"/>
                    <a:pt x="9697085" y="1102233"/>
                    <a:pt x="9645650" y="1153668"/>
                  </a:cubicBezTo>
                  <a:cubicBezTo>
                    <a:pt x="9594215" y="1205103"/>
                    <a:pt x="9524619" y="1233932"/>
                    <a:pt x="9451848" y="1233932"/>
                  </a:cubicBezTo>
                  <a:lnTo>
                    <a:pt x="274066" y="1233932"/>
                  </a:lnTo>
                  <a:cubicBezTo>
                    <a:pt x="122682" y="1233932"/>
                    <a:pt x="0" y="1111250"/>
                    <a:pt x="0" y="959866"/>
                  </a:cubicBezTo>
                  <a:lnTo>
                    <a:pt x="0" y="274066"/>
                  </a:lnTo>
                  <a:cubicBezTo>
                    <a:pt x="0" y="122682"/>
                    <a:pt x="122682" y="0"/>
                    <a:pt x="274066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8700" y="3344266"/>
            <a:ext cx="7294445" cy="1178585"/>
            <a:chOff x="0" y="0"/>
            <a:chExt cx="9725927" cy="15714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25926" cy="1571443"/>
            </a:xfrm>
            <a:custGeom>
              <a:avLst/>
              <a:gdLst/>
              <a:ahLst/>
              <a:cxnLst/>
              <a:rect r="r" b="b" t="t" l="l"/>
              <a:pathLst>
                <a:path h="1571443" w="9725926">
                  <a:moveTo>
                    <a:pt x="0" y="0"/>
                  </a:moveTo>
                  <a:lnTo>
                    <a:pt x="9725926" y="0"/>
                  </a:lnTo>
                  <a:lnTo>
                    <a:pt x="9725926" y="1571443"/>
                  </a:lnTo>
                  <a:lnTo>
                    <a:pt x="0" y="15714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596" r="0" b="-7059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9725927" cy="163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sz="2199" b="tru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k = 2 gives the best tested silhouette scores.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477591" y="5843749"/>
            <a:ext cx="5966974" cy="4157920"/>
            <a:chOff x="0" y="0"/>
            <a:chExt cx="7955966" cy="554389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955915" cy="5543931"/>
            </a:xfrm>
            <a:custGeom>
              <a:avLst/>
              <a:gdLst/>
              <a:ahLst/>
              <a:cxnLst/>
              <a:rect r="r" b="b" t="t" l="l"/>
              <a:pathLst>
                <a:path h="5543931" w="7955915">
                  <a:moveTo>
                    <a:pt x="0" y="0"/>
                  </a:moveTo>
                  <a:lnTo>
                    <a:pt x="7955915" y="0"/>
                  </a:lnTo>
                  <a:lnTo>
                    <a:pt x="7955915" y="5543931"/>
                  </a:lnTo>
                  <a:lnTo>
                    <a:pt x="0" y="5543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0" y="5831453"/>
            <a:ext cx="6477591" cy="4170216"/>
            <a:chOff x="0" y="0"/>
            <a:chExt cx="8636787" cy="556028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36762" cy="5560314"/>
            </a:xfrm>
            <a:custGeom>
              <a:avLst/>
              <a:gdLst/>
              <a:ahLst/>
              <a:cxnLst/>
              <a:rect r="r" b="b" t="t" l="l"/>
              <a:pathLst>
                <a:path h="5560314" w="8636762">
                  <a:moveTo>
                    <a:pt x="0" y="0"/>
                  </a:moveTo>
                  <a:lnTo>
                    <a:pt x="8636762" y="0"/>
                  </a:lnTo>
                  <a:lnTo>
                    <a:pt x="8636762" y="5560314"/>
                  </a:lnTo>
                  <a:lnTo>
                    <a:pt x="0" y="5560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28700" y="4732401"/>
            <a:ext cx="7294445" cy="803786"/>
            <a:chOff x="0" y="0"/>
            <a:chExt cx="9725927" cy="107171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725914" cy="1071753"/>
            </a:xfrm>
            <a:custGeom>
              <a:avLst/>
              <a:gdLst/>
              <a:ahLst/>
              <a:cxnLst/>
              <a:rect r="r" b="b" t="t" l="l"/>
              <a:pathLst>
                <a:path h="1071753" w="9725914">
                  <a:moveTo>
                    <a:pt x="274066" y="0"/>
                  </a:moveTo>
                  <a:lnTo>
                    <a:pt x="9451848" y="0"/>
                  </a:lnTo>
                  <a:cubicBezTo>
                    <a:pt x="9603232" y="0"/>
                    <a:pt x="9725914" y="122682"/>
                    <a:pt x="9725914" y="274066"/>
                  </a:cubicBezTo>
                  <a:lnTo>
                    <a:pt x="9725914" y="797687"/>
                  </a:lnTo>
                  <a:cubicBezTo>
                    <a:pt x="9725914" y="870331"/>
                    <a:pt x="9697085" y="940054"/>
                    <a:pt x="9645650" y="991489"/>
                  </a:cubicBezTo>
                  <a:cubicBezTo>
                    <a:pt x="9594215" y="1042924"/>
                    <a:pt x="9524619" y="1071753"/>
                    <a:pt x="9451848" y="1071753"/>
                  </a:cubicBezTo>
                  <a:lnTo>
                    <a:pt x="274066" y="1071753"/>
                  </a:lnTo>
                  <a:cubicBezTo>
                    <a:pt x="122682" y="1071753"/>
                    <a:pt x="0" y="949071"/>
                    <a:pt x="0" y="797687"/>
                  </a:cubicBezTo>
                  <a:lnTo>
                    <a:pt x="0" y="274066"/>
                  </a:lnTo>
                  <a:cubicBezTo>
                    <a:pt x="0" y="122682"/>
                    <a:pt x="122682" y="0"/>
                    <a:pt x="274066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28700" y="4479236"/>
            <a:ext cx="7294445" cy="1056942"/>
            <a:chOff x="0" y="0"/>
            <a:chExt cx="9725927" cy="14092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25926" cy="1409253"/>
            </a:xfrm>
            <a:custGeom>
              <a:avLst/>
              <a:gdLst/>
              <a:ahLst/>
              <a:cxnLst/>
              <a:rect r="r" b="b" t="t" l="l"/>
              <a:pathLst>
                <a:path h="1409253" w="9725926">
                  <a:moveTo>
                    <a:pt x="0" y="0"/>
                  </a:moveTo>
                  <a:lnTo>
                    <a:pt x="9725926" y="0"/>
                  </a:lnTo>
                  <a:lnTo>
                    <a:pt x="9725926" y="1409253"/>
                  </a:lnTo>
                  <a:lnTo>
                    <a:pt x="0" y="140925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475" r="0" b="-8447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9725927" cy="1475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sz="2199" b="tru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Selected k = 2 and plotted the final clusters.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061415" y="66932"/>
            <a:ext cx="4226585" cy="10153136"/>
            <a:chOff x="0" y="0"/>
            <a:chExt cx="5635447" cy="1353751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635498" cy="13537564"/>
            </a:xfrm>
            <a:custGeom>
              <a:avLst/>
              <a:gdLst/>
              <a:ahLst/>
              <a:cxnLst/>
              <a:rect r="r" b="b" t="t" l="l"/>
              <a:pathLst>
                <a:path h="13537564" w="5635498">
                  <a:moveTo>
                    <a:pt x="0" y="0"/>
                  </a:moveTo>
                  <a:lnTo>
                    <a:pt x="5635498" y="0"/>
                  </a:lnTo>
                  <a:lnTo>
                    <a:pt x="5635498" y="13537564"/>
                  </a:lnTo>
                  <a:lnTo>
                    <a:pt x="0" y="13537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16" r="0" b="-615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966302" y="4541272"/>
            <a:ext cx="4800133" cy="1204465"/>
            <a:chOff x="0" y="0"/>
            <a:chExt cx="6400178" cy="160595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400165" cy="1605915"/>
            </a:xfrm>
            <a:custGeom>
              <a:avLst/>
              <a:gdLst/>
              <a:ahLst/>
              <a:cxnLst/>
              <a:rect r="r" b="b" t="t" l="l"/>
              <a:pathLst>
                <a:path h="1605915" w="6400165">
                  <a:moveTo>
                    <a:pt x="0" y="0"/>
                  </a:moveTo>
                  <a:lnTo>
                    <a:pt x="6400165" y="0"/>
                  </a:lnTo>
                  <a:lnTo>
                    <a:pt x="6400165" y="1605915"/>
                  </a:lnTo>
                  <a:lnTo>
                    <a:pt x="0" y="1605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966302" y="1495225"/>
            <a:ext cx="4788437" cy="3075137"/>
            <a:chOff x="0" y="0"/>
            <a:chExt cx="6384582" cy="410018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84544" cy="4100195"/>
            </a:xfrm>
            <a:custGeom>
              <a:avLst/>
              <a:gdLst/>
              <a:ahLst/>
              <a:cxnLst/>
              <a:rect r="r" b="b" t="t" l="l"/>
              <a:pathLst>
                <a:path h="4100195" w="6384544">
                  <a:moveTo>
                    <a:pt x="0" y="0"/>
                  </a:moveTo>
                  <a:lnTo>
                    <a:pt x="6384544" y="0"/>
                  </a:lnTo>
                  <a:lnTo>
                    <a:pt x="6384544" y="4100195"/>
                  </a:lnTo>
                  <a:lnTo>
                    <a:pt x="0" y="4100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533848" y="47882"/>
            <a:ext cx="14772942" cy="1082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sz="6998" spc="341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FINDING THE BEST K VALUE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203216" y="0"/>
            <a:ext cx="1868786" cy="1570758"/>
          </a:xfrm>
          <a:custGeom>
            <a:avLst/>
            <a:gdLst/>
            <a:ahLst/>
            <a:cxnLst/>
            <a:rect r="r" b="b" t="t" l="l"/>
            <a:pathLst>
              <a:path h="1570758" w="1868786">
                <a:moveTo>
                  <a:pt x="0" y="0"/>
                </a:moveTo>
                <a:lnTo>
                  <a:pt x="1868786" y="0"/>
                </a:lnTo>
                <a:lnTo>
                  <a:pt x="1868786" y="1570758"/>
                </a:lnTo>
                <a:lnTo>
                  <a:pt x="0" y="15707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76" t="0" r="-176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0" y="264185"/>
            <a:ext cx="1868786" cy="807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1"/>
              </a:lnSpc>
            </a:pPr>
            <a:r>
              <a:rPr lang="en-US" sz="2064" b="true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Part</a:t>
            </a:r>
          </a:p>
          <a:p>
            <a:pPr algn="ctr">
              <a:lnSpc>
                <a:spcPts val="2891"/>
              </a:lnSpc>
            </a:pPr>
            <a:r>
              <a:rPr lang="en-US" sz="2064" b="true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860">
            <a:off x="-568814" y="2640511"/>
            <a:ext cx="20090111" cy="0"/>
          </a:xfrm>
          <a:prstGeom prst="line">
            <a:avLst/>
          </a:prstGeom>
          <a:ln cap="rnd" w="19050">
            <a:solidFill>
              <a:srgbClr val="02B67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74466" y="3179607"/>
            <a:ext cx="2601182" cy="1963893"/>
            <a:chOff x="0" y="0"/>
            <a:chExt cx="3468243" cy="26185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68243" cy="2618486"/>
            </a:xfrm>
            <a:custGeom>
              <a:avLst/>
              <a:gdLst/>
              <a:ahLst/>
              <a:cxnLst/>
              <a:rect r="r" b="b" t="t" l="l"/>
              <a:pathLst>
                <a:path h="2618486" w="3468243">
                  <a:moveTo>
                    <a:pt x="0" y="0"/>
                  </a:moveTo>
                  <a:lnTo>
                    <a:pt x="3468243" y="0"/>
                  </a:lnTo>
                  <a:lnTo>
                    <a:pt x="3468243" y="2618486"/>
                  </a:lnTo>
                  <a:lnTo>
                    <a:pt x="0" y="2618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0" r="0" b="-3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853171" y="3179607"/>
            <a:ext cx="3148146" cy="2431942"/>
            <a:chOff x="0" y="0"/>
            <a:chExt cx="4197528" cy="32425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97477" cy="3242564"/>
            </a:xfrm>
            <a:custGeom>
              <a:avLst/>
              <a:gdLst/>
              <a:ahLst/>
              <a:cxnLst/>
              <a:rect r="r" b="b" t="t" l="l"/>
              <a:pathLst>
                <a:path h="3242564" w="4197477">
                  <a:moveTo>
                    <a:pt x="0" y="0"/>
                  </a:moveTo>
                  <a:lnTo>
                    <a:pt x="4197477" y="0"/>
                  </a:lnTo>
                  <a:lnTo>
                    <a:pt x="4197477" y="3242564"/>
                  </a:lnTo>
                  <a:lnTo>
                    <a:pt x="0" y="3242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9" r="-1" b="-9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3479111" y="8593617"/>
            <a:ext cx="3479559" cy="1693383"/>
            <a:chOff x="0" y="0"/>
            <a:chExt cx="4639412" cy="22578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39437" cy="2257806"/>
            </a:xfrm>
            <a:custGeom>
              <a:avLst/>
              <a:gdLst/>
              <a:ahLst/>
              <a:cxnLst/>
              <a:rect r="r" b="b" t="t" l="l"/>
              <a:pathLst>
                <a:path h="2257806" w="4639437">
                  <a:moveTo>
                    <a:pt x="0" y="0"/>
                  </a:moveTo>
                  <a:lnTo>
                    <a:pt x="4639437" y="0"/>
                  </a:lnTo>
                  <a:lnTo>
                    <a:pt x="4639437" y="2257806"/>
                  </a:lnTo>
                  <a:lnTo>
                    <a:pt x="0" y="2257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7" r="0" b="-79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74466" y="34928"/>
            <a:ext cx="8115300" cy="1082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8"/>
              </a:lnSpc>
            </a:pPr>
            <a:r>
              <a:rPr lang="en-US" sz="6998" spc="341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FINAL INSIGHTS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9486" y="1185481"/>
            <a:ext cx="11964914" cy="123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2922" indent="-167641" lvl="2">
              <a:lnSpc>
                <a:spcPts val="3079"/>
              </a:lnSpc>
              <a:buFont typeface="Arial"/>
              <a:buChar char="⚬"/>
            </a:pPr>
            <a:r>
              <a:rPr lang="en-US" b="true" sz="2199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Age and Spending distinguish the two selected segments.</a:t>
            </a:r>
          </a:p>
          <a:p>
            <a:pPr algn="l" marL="502922" indent="-167641" lvl="2">
              <a:lnSpc>
                <a:spcPts val="3079"/>
              </a:lnSpc>
              <a:buFont typeface="Arial"/>
              <a:buChar char="⚬"/>
            </a:pPr>
          </a:p>
          <a:p>
            <a:pPr algn="l" marL="502922" indent="-167641" lvl="2">
              <a:lnSpc>
                <a:spcPts val="3079"/>
              </a:lnSpc>
              <a:buFont typeface="Arial"/>
              <a:buChar char="⚬"/>
            </a:pPr>
            <a:r>
              <a:rPr lang="en-US" b="true" sz="2199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DBSCAN scored 0.104 with eps = 0.5 and min_samples = 2.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71163" y="2998489"/>
            <a:ext cx="2197322" cy="73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7"/>
              </a:lnSpc>
            </a:pPr>
            <a:r>
              <a:rPr lang="en-US" sz="4599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Cluster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93851" y="3531184"/>
            <a:ext cx="4075290" cy="10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2"/>
              </a:lnSpc>
            </a:pPr>
            <a:r>
              <a:rPr lang="en-US" sz="2399" b="true">
                <a:solidFill>
                  <a:srgbClr val="F7562B"/>
                </a:solidFill>
                <a:latin typeface="Telegraf Bold"/>
                <a:ea typeface="Telegraf Bold"/>
                <a:cs typeface="Telegraf Bold"/>
                <a:sym typeface="Telegraf Bold"/>
              </a:rPr>
              <a:t>Younger, average income, higher spending.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09821" y="4638284"/>
            <a:ext cx="4243340" cy="2403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Age z-score: −0.76</a:t>
            </a:r>
          </a:p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Income z-score: 0.00</a:t>
            </a:r>
          </a:p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Spending z-score: +0.74</a:t>
            </a:r>
          </a:p>
          <a:p>
            <a:pPr algn="ctr">
              <a:lnSpc>
                <a:spcPts val="3079"/>
              </a:lnSpc>
            </a:pPr>
          </a:p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Test loyalty rewards, premium offers and bundle upgrades.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83907" y="2998489"/>
            <a:ext cx="2197322" cy="73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7"/>
              </a:lnSpc>
            </a:pPr>
            <a:r>
              <a:rPr lang="en-US" sz="4599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Cluster 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72009" y="3531184"/>
            <a:ext cx="3538604" cy="10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2"/>
              </a:lnSpc>
            </a:pPr>
            <a:r>
              <a:rPr lang="en-US" sz="2399" b="true">
                <a:solidFill>
                  <a:srgbClr val="02B676"/>
                </a:solidFill>
                <a:latin typeface="Telegraf Bold"/>
                <a:ea typeface="Telegraf Bold"/>
                <a:cs typeface="Telegraf Bold"/>
                <a:sym typeface="Telegraf Bold"/>
              </a:rPr>
              <a:t>Older, average income, lower spending.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19632" y="4669488"/>
            <a:ext cx="4243340" cy="2794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Age z-score: +0.71</a:t>
            </a:r>
          </a:p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Income z-score: 0.00</a:t>
            </a:r>
          </a:p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Spending z-score: −0.70</a:t>
            </a:r>
          </a:p>
          <a:p>
            <a:pPr algn="ctr">
              <a:lnSpc>
                <a:spcPts val="3079"/>
              </a:lnSpc>
            </a:pPr>
          </a:p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Test value offers and practical bundles. Lower spending alone does not prove price sensitivity.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58670" y="7606836"/>
            <a:ext cx="3784521" cy="2420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Limits: 198 customers, 28.16% of variance omitted. Check stability across seeds and test campaign ideas before use.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5935877" y="0"/>
            <a:ext cx="2352123" cy="1977019"/>
          </a:xfrm>
          <a:custGeom>
            <a:avLst/>
            <a:gdLst/>
            <a:ahLst/>
            <a:cxnLst/>
            <a:rect r="r" b="b" t="t" l="l"/>
            <a:pathLst>
              <a:path h="1977019" w="2352123">
                <a:moveTo>
                  <a:pt x="0" y="0"/>
                </a:moveTo>
                <a:lnTo>
                  <a:pt x="2352123" y="0"/>
                </a:lnTo>
                <a:lnTo>
                  <a:pt x="2352123" y="1977019"/>
                </a:lnTo>
                <a:lnTo>
                  <a:pt x="0" y="19770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8" t="0" r="-108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680093" y="350339"/>
            <a:ext cx="2352123" cy="998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Part</a:t>
            </a:r>
          </a:p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DAHXQuOc2_c</dc:identifier>
  <dcterms:modified xsi:type="dcterms:W3CDTF">2011-08-01T06:04:30Z</dcterms:modified>
  <cp:revision>1</cp:revision>
  <dc:title>AIML CA2 Part A — Final</dc:title>
</cp:coreProperties>
</file>